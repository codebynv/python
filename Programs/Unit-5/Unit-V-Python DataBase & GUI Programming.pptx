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6858000" cy="9144000"/>
  <p:embeddedFontLst>
    <p:embeddedFont>
      <p:font typeface="Roboto Mon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91164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444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fcd17a5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fcd17a5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352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fcd17a5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fcd17a5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55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fcd17a5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fcd17a5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937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fcd17a5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fcd17a5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556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cfcd17a5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cfcd17a5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0253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d0062b394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d0062b394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367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0062b394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0062b394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801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0062b39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d0062b39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288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d0062b394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d0062b394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606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d0062b394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d0062b394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0539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d0062b394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d0062b394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667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d0062b394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d0062b394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021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d0062b394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d0062b394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20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89175"/>
            <a:ext cx="8520600" cy="90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 smtClean="0"/>
              <a:t>Unit-5</a:t>
            </a:r>
            <a:br>
              <a:rPr lang="en-GB" sz="3600" dirty="0" smtClean="0"/>
            </a:br>
            <a:r>
              <a:rPr lang="en-GB" sz="3600" dirty="0" smtClean="0"/>
              <a:t>GUI </a:t>
            </a:r>
            <a:r>
              <a:rPr lang="en-GB" sz="3600" dirty="0"/>
              <a:t>(Graphical User Interface)</a:t>
            </a:r>
            <a:endParaRPr sz="3600"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575" y="1344575"/>
            <a:ext cx="5087550" cy="30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 b="1"/>
              <a:t>GUI (Graphical User Interface</a:t>
            </a:r>
            <a:endParaRPr sz="440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92075" y="1380175"/>
            <a:ext cx="8520600" cy="27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 b="1">
                <a:solidFill>
                  <a:schemeClr val="dk1"/>
                </a:solidFill>
              </a:rPr>
              <a:t>GUI (Graphical User Interface)</a:t>
            </a:r>
            <a:r>
              <a:rPr lang="en-GB" sz="2100">
                <a:solidFill>
                  <a:schemeClr val="dk1"/>
                </a:solidFill>
              </a:rPr>
              <a:t> is the visual part of a program with buttons, windows, and text boxes.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GUI programming makes apps user-friendly by allowing users to click and interact visually.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In Python, libraries like </a:t>
            </a:r>
            <a:r>
              <a:rPr lang="en-GB" sz="2100" b="1">
                <a:solidFill>
                  <a:schemeClr val="dk1"/>
                </a:solidFill>
              </a:rPr>
              <a:t>Tkinter</a:t>
            </a:r>
            <a:r>
              <a:rPr lang="en-GB" sz="2100">
                <a:solidFill>
                  <a:schemeClr val="dk1"/>
                </a:solidFill>
              </a:rPr>
              <a:t> help create simple windows and buttons easily.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370" b="1"/>
              <a:t>Steps for GUI Programming</a:t>
            </a:r>
            <a:endParaRPr sz="2370" b="1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2370" b="1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255600" y="1393350"/>
            <a:ext cx="8632800" cy="23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chemeClr val="dk1"/>
                </a:solidFill>
              </a:rPr>
              <a:t>Step 1:</a:t>
            </a:r>
            <a:r>
              <a:rPr lang="en-GB" sz="2300">
                <a:solidFill>
                  <a:schemeClr val="dk1"/>
                </a:solidFill>
              </a:rPr>
              <a:t> Import the GUI library (e.g., </a:t>
            </a:r>
            <a:r>
              <a:rPr lang="en-GB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tkinter as tk</a:t>
            </a:r>
            <a:r>
              <a:rPr lang="en-GB" sz="2300">
                <a:solidFill>
                  <a:schemeClr val="dk1"/>
                </a:solidFill>
              </a:rPr>
              <a:t>)</a:t>
            </a:r>
            <a:br>
              <a:rPr lang="en-GB" sz="2300">
                <a:solidFill>
                  <a:schemeClr val="dk1"/>
                </a:solidFill>
              </a:rPr>
            </a:br>
            <a:r>
              <a:rPr lang="en-GB" sz="2300" b="1">
                <a:solidFill>
                  <a:schemeClr val="dk1"/>
                </a:solidFill>
              </a:rPr>
              <a:t>Step 2:</a:t>
            </a:r>
            <a:r>
              <a:rPr lang="en-GB" sz="2300">
                <a:solidFill>
                  <a:schemeClr val="dk1"/>
                </a:solidFill>
              </a:rPr>
              <a:t> Create the main window</a:t>
            </a:r>
            <a:br>
              <a:rPr lang="en-GB" sz="2300">
                <a:solidFill>
                  <a:schemeClr val="dk1"/>
                </a:solidFill>
              </a:rPr>
            </a:br>
            <a:r>
              <a:rPr lang="en-GB" sz="2300" b="1">
                <a:solidFill>
                  <a:schemeClr val="dk1"/>
                </a:solidFill>
              </a:rPr>
              <a:t>Step 3:</a:t>
            </a:r>
            <a:r>
              <a:rPr lang="en-GB" sz="2300">
                <a:solidFill>
                  <a:schemeClr val="dk1"/>
                </a:solidFill>
              </a:rPr>
              <a:t> Add widgets (buttons, labels, text boxes)</a:t>
            </a:r>
            <a:br>
              <a:rPr lang="en-GB" sz="2300">
                <a:solidFill>
                  <a:schemeClr val="dk1"/>
                </a:solidFill>
              </a:rPr>
            </a:br>
            <a:r>
              <a:rPr lang="en-GB" sz="2300" b="1">
                <a:solidFill>
                  <a:schemeClr val="dk1"/>
                </a:solidFill>
              </a:rPr>
              <a:t>Step 4:</a:t>
            </a:r>
            <a:r>
              <a:rPr lang="en-GB" sz="2300">
                <a:solidFill>
                  <a:schemeClr val="dk1"/>
                </a:solidFill>
              </a:rPr>
              <a:t> Define functions for user actions (like button clicks)</a:t>
            </a:r>
            <a:br>
              <a:rPr lang="en-GB" sz="2300">
                <a:solidFill>
                  <a:schemeClr val="dk1"/>
                </a:solidFill>
              </a:rPr>
            </a:br>
            <a:r>
              <a:rPr lang="en-GB" sz="2300" b="1">
                <a:solidFill>
                  <a:schemeClr val="dk1"/>
                </a:solidFill>
              </a:rPr>
              <a:t>Step 5:</a:t>
            </a:r>
            <a:r>
              <a:rPr lang="en-GB" sz="2300">
                <a:solidFill>
                  <a:schemeClr val="dk1"/>
                </a:solidFill>
              </a:rPr>
              <a:t> Run the main loop to start the GUI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509000"/>
            <a:ext cx="8520600" cy="40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rgbClr val="FF0000"/>
                </a:solidFill>
              </a:rPr>
              <a:t>Tk()</a:t>
            </a:r>
            <a:r>
              <a:rPr lang="en-GB" sz="2300" b="1">
                <a:solidFill>
                  <a:schemeClr val="dk1"/>
                </a:solidFill>
              </a:rPr>
              <a:t> → Creates the main window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rgbClr val="073763"/>
                </a:solidFill>
              </a:rPr>
              <a:t>m = tk.Tk()</a:t>
            </a:r>
            <a:r>
              <a:rPr lang="en-GB" sz="2300" b="1">
                <a:solidFill>
                  <a:srgbClr val="0000FF"/>
                </a:solidFill>
              </a:rPr>
              <a:t> </a:t>
            </a:r>
            <a:r>
              <a:rPr lang="en-GB" sz="2300">
                <a:solidFill>
                  <a:schemeClr val="dk1"/>
                </a:solidFill>
              </a:rPr>
              <a:t> </a:t>
            </a:r>
            <a:r>
              <a:rPr lang="en-GB" sz="1700">
                <a:solidFill>
                  <a:schemeClr val="dk1"/>
                </a:solidFill>
              </a:rPr>
              <a:t> # Creates the main window object named m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chemeClr val="dk1"/>
                </a:solidFill>
              </a:rPr>
              <a:t> </a:t>
            </a:r>
            <a:r>
              <a:rPr lang="en-GB" sz="2400" b="1">
                <a:solidFill>
                  <a:srgbClr val="FF0000"/>
                </a:solidFill>
              </a:rPr>
              <a:t>mainloop()</a:t>
            </a:r>
            <a:r>
              <a:rPr lang="en-GB" sz="2300" b="1">
                <a:solidFill>
                  <a:schemeClr val="dk1"/>
                </a:solidFill>
              </a:rPr>
              <a:t> → Runs the GUI program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rgbClr val="073763"/>
                </a:solidFill>
              </a:rPr>
              <a:t>m.mainloop()</a:t>
            </a:r>
            <a:r>
              <a:rPr lang="en-GB" sz="2300">
                <a:solidFill>
                  <a:srgbClr val="073763"/>
                </a:solidFill>
              </a:rPr>
              <a:t> </a:t>
            </a:r>
            <a:r>
              <a:rPr lang="en-GB" sz="2300">
                <a:solidFill>
                  <a:schemeClr val="dk1"/>
                </a:solidFill>
              </a:rPr>
              <a:t>  </a:t>
            </a:r>
            <a:r>
              <a:rPr lang="en-GB" sz="1700">
                <a:solidFill>
                  <a:schemeClr val="dk1"/>
                </a:solidFill>
              </a:rPr>
              <a:t># Starts the program and keeps the window open until closed</a:t>
            </a: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sz="3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Example-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err="1">
                <a:solidFill>
                  <a:schemeClr val="tx1"/>
                </a:solidFill>
              </a:rPr>
              <a:t>tkinter</a:t>
            </a:r>
            <a:r>
              <a:rPr lang="en-US" dirty="0">
                <a:solidFill>
                  <a:schemeClr val="tx1"/>
                </a:solidFill>
              </a:rPr>
              <a:t> import *  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top = </a:t>
            </a:r>
            <a:r>
              <a:rPr lang="en-US" dirty="0" err="1">
                <a:solidFill>
                  <a:schemeClr val="tx1"/>
                </a:solidFill>
              </a:rPr>
              <a:t>Tk</a:t>
            </a:r>
            <a:r>
              <a:rPr lang="en-US" dirty="0">
                <a:solidFill>
                  <a:schemeClr val="tx1"/>
                </a:solidFill>
              </a:rPr>
              <a:t>()  </a:t>
            </a:r>
          </a:p>
          <a:p>
            <a:pPr marL="114300" indent="0">
              <a:buNone/>
            </a:pPr>
            <a:r>
              <a:rPr lang="en-US" dirty="0" err="1" smtClean="0">
                <a:solidFill>
                  <a:schemeClr val="tx1"/>
                </a:solidFill>
              </a:rPr>
              <a:t>top.mainloop</a:t>
            </a:r>
            <a:r>
              <a:rPr lang="en-US" dirty="0">
                <a:solidFill>
                  <a:schemeClr val="tx1"/>
                </a:solidFill>
              </a:rPr>
              <a:t>()  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Output: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7615" t="38423" r="61279" b="25222"/>
          <a:stretch/>
        </p:blipFill>
        <p:spPr bwMode="auto">
          <a:xfrm>
            <a:off x="738540" y="2860675"/>
            <a:ext cx="1209675" cy="11715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7274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b="1"/>
              <a:t>   Tkinter Window Creation and Geometry Managers</a:t>
            </a:r>
            <a:endParaRPr sz="2320" b="1"/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l="3409" t="42963" r="30274" b="26914"/>
          <a:stretch/>
        </p:blipFill>
        <p:spPr>
          <a:xfrm>
            <a:off x="776875" y="919150"/>
            <a:ext cx="7166074" cy="16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810300" y="2719075"/>
            <a:ext cx="7099200" cy="1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chemeClr val="dk1"/>
                </a:solidFill>
              </a:rPr>
              <a:t>Geometry Managers in Tkinter</a:t>
            </a:r>
            <a:endParaRPr sz="19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Tkinter provides </a:t>
            </a:r>
            <a:r>
              <a:rPr lang="en-GB" sz="1700" b="1">
                <a:solidFill>
                  <a:schemeClr val="dk1"/>
                </a:solidFill>
              </a:rPr>
              <a:t>3 geometry methods</a:t>
            </a:r>
            <a:r>
              <a:rPr lang="en-GB" sz="1700">
                <a:solidFill>
                  <a:schemeClr val="dk1"/>
                </a:solidFill>
              </a:rPr>
              <a:t> to arrange widgets in a window: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1 </a:t>
            </a:r>
            <a:r>
              <a:rPr lang="en-GB" sz="1700" b="1">
                <a:solidFill>
                  <a:schemeClr val="dk1"/>
                </a:solidFill>
              </a:rPr>
              <a:t>pack()</a:t>
            </a:r>
            <a:r>
              <a:rPr lang="en-GB" sz="1700">
                <a:solidFill>
                  <a:schemeClr val="dk1"/>
                </a:solidFill>
              </a:rPr>
              <a:t> – Arranges widgets in blocks (top, bottom, left, right).</a:t>
            </a:r>
            <a:br>
              <a:rPr lang="en-GB" sz="1700">
                <a:solidFill>
                  <a:schemeClr val="dk1"/>
                </a:solidFill>
              </a:rPr>
            </a:br>
            <a:r>
              <a:rPr lang="en-GB" sz="1700">
                <a:solidFill>
                  <a:schemeClr val="dk1"/>
                </a:solidFill>
              </a:rPr>
              <a:t>2 </a:t>
            </a:r>
            <a:r>
              <a:rPr lang="en-GB" sz="1700" b="1">
                <a:solidFill>
                  <a:schemeClr val="dk1"/>
                </a:solidFill>
              </a:rPr>
              <a:t>grid()</a:t>
            </a:r>
            <a:r>
              <a:rPr lang="en-GB" sz="1700">
                <a:solidFill>
                  <a:schemeClr val="dk1"/>
                </a:solidFill>
              </a:rPr>
              <a:t> – Arranges widgets in rows and columns (table format).</a:t>
            </a:r>
            <a:br>
              <a:rPr lang="en-GB" sz="1700">
                <a:solidFill>
                  <a:schemeClr val="dk1"/>
                </a:solidFill>
              </a:rPr>
            </a:br>
            <a:r>
              <a:rPr lang="en-GB" sz="1700">
                <a:solidFill>
                  <a:schemeClr val="dk1"/>
                </a:solidFill>
              </a:rPr>
              <a:t>3 </a:t>
            </a:r>
            <a:r>
              <a:rPr lang="en-GB" sz="1700" b="1">
                <a:solidFill>
                  <a:schemeClr val="dk1"/>
                </a:solidFill>
              </a:rPr>
              <a:t>place()</a:t>
            </a:r>
            <a:r>
              <a:rPr lang="en-GB" sz="1700">
                <a:solidFill>
                  <a:schemeClr val="dk1"/>
                </a:solidFill>
              </a:rPr>
              <a:t> – Places widgets at specific positions (x, y coordinates).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1911"/>
            <a:ext cx="8520600" cy="451556"/>
          </a:xfrm>
        </p:spPr>
        <p:txBody>
          <a:bodyPr>
            <a:normAutofit fontScale="90000"/>
          </a:bodyPr>
          <a:lstStyle/>
          <a:p>
            <a:r>
              <a:rPr lang="en-IN" dirty="0"/>
              <a:t>Python </a:t>
            </a:r>
            <a:r>
              <a:rPr lang="en-IN" dirty="0" err="1"/>
              <a:t>Tkinter</a:t>
            </a:r>
            <a:r>
              <a:rPr lang="en-IN" dirty="0"/>
              <a:t> pack() method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24088"/>
            <a:ext cx="8520600" cy="410915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>
                <a:solidFill>
                  <a:schemeClr val="tx1"/>
                </a:solidFill>
              </a:rPr>
              <a:t>from</a:t>
            </a:r>
            <a:r>
              <a:rPr lang="en-IN" sz="2000" dirty="0">
                <a:solidFill>
                  <a:schemeClr val="tx1"/>
                </a:solidFill>
              </a:rPr>
              <a:t> </a:t>
            </a:r>
            <a:r>
              <a:rPr lang="en-IN" sz="2000" dirty="0" err="1">
                <a:solidFill>
                  <a:schemeClr val="tx1"/>
                </a:solidFill>
              </a:rPr>
              <a:t>tkinter</a:t>
            </a:r>
            <a:r>
              <a:rPr lang="en-IN" sz="2000" dirty="0">
                <a:solidFill>
                  <a:schemeClr val="tx1"/>
                </a:solidFill>
              </a:rPr>
              <a:t> </a:t>
            </a:r>
            <a:r>
              <a:rPr lang="en-IN" sz="2000" b="1" dirty="0">
                <a:solidFill>
                  <a:schemeClr val="tx1"/>
                </a:solidFill>
              </a:rPr>
              <a:t>import</a:t>
            </a:r>
            <a:r>
              <a:rPr lang="en-IN" sz="2000" dirty="0">
                <a:solidFill>
                  <a:schemeClr val="tx1"/>
                </a:solidFill>
              </a:rPr>
              <a:t> *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parent = </a:t>
            </a:r>
            <a:r>
              <a:rPr lang="en-IN" sz="2000" dirty="0" err="1">
                <a:solidFill>
                  <a:schemeClr val="tx1"/>
                </a:solidFill>
              </a:rPr>
              <a:t>Tk</a:t>
            </a:r>
            <a:r>
              <a:rPr lang="en-IN" sz="2000" dirty="0">
                <a:solidFill>
                  <a:schemeClr val="tx1"/>
                </a:solidFill>
              </a:rPr>
              <a:t>()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redbutton</a:t>
            </a:r>
            <a:r>
              <a:rPr lang="en-IN" sz="2000" dirty="0">
                <a:solidFill>
                  <a:schemeClr val="tx1"/>
                </a:solidFill>
              </a:rPr>
              <a:t> = Button(parent, text = "Red", </a:t>
            </a:r>
            <a:r>
              <a:rPr lang="en-IN" sz="2000" dirty="0" err="1">
                <a:solidFill>
                  <a:schemeClr val="tx1"/>
                </a:solidFill>
              </a:rPr>
              <a:t>fg</a:t>
            </a:r>
            <a:r>
              <a:rPr lang="en-IN" sz="2000" dirty="0">
                <a:solidFill>
                  <a:schemeClr val="tx1"/>
                </a:solidFill>
              </a:rPr>
              <a:t> = "red")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redbutton.pack</a:t>
            </a:r>
            <a:r>
              <a:rPr lang="en-IN" sz="2000" dirty="0">
                <a:solidFill>
                  <a:schemeClr val="tx1"/>
                </a:solidFill>
              </a:rPr>
              <a:t>( side = LEFT)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greenbutton</a:t>
            </a:r>
            <a:r>
              <a:rPr lang="en-IN" sz="2000" dirty="0">
                <a:solidFill>
                  <a:schemeClr val="tx1"/>
                </a:solidFill>
              </a:rPr>
              <a:t> = Button(parent, text = "Black", </a:t>
            </a:r>
            <a:r>
              <a:rPr lang="en-IN" sz="2000" dirty="0" err="1">
                <a:solidFill>
                  <a:schemeClr val="tx1"/>
                </a:solidFill>
              </a:rPr>
              <a:t>fg</a:t>
            </a:r>
            <a:r>
              <a:rPr lang="en-IN" sz="2000" dirty="0">
                <a:solidFill>
                  <a:schemeClr val="tx1"/>
                </a:solidFill>
              </a:rPr>
              <a:t> = "black")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greenbutton.pack</a:t>
            </a:r>
            <a:r>
              <a:rPr lang="en-IN" sz="2000" dirty="0">
                <a:solidFill>
                  <a:schemeClr val="tx1"/>
                </a:solidFill>
              </a:rPr>
              <a:t>( side = RIGHT 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bluebutton</a:t>
            </a:r>
            <a:r>
              <a:rPr lang="en-IN" sz="2000" dirty="0">
                <a:solidFill>
                  <a:schemeClr val="tx1"/>
                </a:solidFill>
              </a:rPr>
              <a:t> = Button(parent, text = "Blue", </a:t>
            </a:r>
            <a:r>
              <a:rPr lang="en-IN" sz="2000" dirty="0" err="1">
                <a:solidFill>
                  <a:schemeClr val="tx1"/>
                </a:solidFill>
              </a:rPr>
              <a:t>fg</a:t>
            </a:r>
            <a:r>
              <a:rPr lang="en-IN" sz="2000" dirty="0">
                <a:solidFill>
                  <a:schemeClr val="tx1"/>
                </a:solidFill>
              </a:rPr>
              <a:t> = "blue")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bluebutton.pack</a:t>
            </a:r>
            <a:r>
              <a:rPr lang="en-IN" sz="2000" dirty="0">
                <a:solidFill>
                  <a:schemeClr val="tx1"/>
                </a:solidFill>
              </a:rPr>
              <a:t>( side = TOP 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blackbutton</a:t>
            </a:r>
            <a:r>
              <a:rPr lang="en-IN" sz="2000" dirty="0">
                <a:solidFill>
                  <a:schemeClr val="tx1"/>
                </a:solidFill>
              </a:rPr>
              <a:t> = Button(parent, text = "Green", </a:t>
            </a:r>
            <a:r>
              <a:rPr lang="en-IN" sz="2000" dirty="0" err="1">
                <a:solidFill>
                  <a:schemeClr val="tx1"/>
                </a:solidFill>
              </a:rPr>
              <a:t>fg</a:t>
            </a:r>
            <a:r>
              <a:rPr lang="en-IN" sz="2000" dirty="0">
                <a:solidFill>
                  <a:schemeClr val="tx1"/>
                </a:solidFill>
              </a:rPr>
              <a:t> = "red")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blackbutton.pack</a:t>
            </a:r>
            <a:r>
              <a:rPr lang="en-IN" sz="2000" dirty="0">
                <a:solidFill>
                  <a:schemeClr val="tx1"/>
                </a:solidFill>
              </a:rPr>
              <a:t>( side = BOTTOM)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000" dirty="0" err="1">
                <a:solidFill>
                  <a:schemeClr val="tx1"/>
                </a:solidFill>
              </a:rPr>
              <a:t>parent.mainloop</a:t>
            </a:r>
            <a:r>
              <a:rPr lang="en-IN" sz="2000" dirty="0">
                <a:solidFill>
                  <a:schemeClr val="tx1"/>
                </a:solidFill>
              </a:rPr>
              <a:t>()  </a:t>
            </a: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Python Tkinte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525" y="3902956"/>
            <a:ext cx="1685925" cy="904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60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Python </a:t>
            </a:r>
            <a:r>
              <a:rPr lang="en-IN" dirty="0" err="1"/>
              <a:t>Tkinter</a:t>
            </a:r>
            <a:r>
              <a:rPr lang="en-IN" dirty="0"/>
              <a:t> grid() method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from</a:t>
            </a:r>
            <a:r>
              <a:rPr lang="en-IN" dirty="0">
                <a:solidFill>
                  <a:schemeClr val="tx1"/>
                </a:solidFill>
              </a:rPr>
              <a:t> </a:t>
            </a:r>
            <a:r>
              <a:rPr lang="en-IN" dirty="0" err="1">
                <a:solidFill>
                  <a:schemeClr val="tx1"/>
                </a:solidFill>
              </a:rPr>
              <a:t>tkinter</a:t>
            </a:r>
            <a:r>
              <a:rPr lang="en-IN" dirty="0">
                <a:solidFill>
                  <a:schemeClr val="tx1"/>
                </a:solidFill>
              </a:rPr>
              <a:t> </a:t>
            </a:r>
            <a:r>
              <a:rPr lang="en-IN" b="1" dirty="0">
                <a:solidFill>
                  <a:schemeClr val="tx1"/>
                </a:solidFill>
              </a:rPr>
              <a:t>import</a:t>
            </a:r>
            <a:r>
              <a:rPr lang="en-IN" dirty="0">
                <a:solidFill>
                  <a:schemeClr val="tx1"/>
                </a:solidFill>
              </a:rPr>
              <a:t> *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parent = </a:t>
            </a:r>
            <a:r>
              <a:rPr lang="en-IN" dirty="0" err="1">
                <a:solidFill>
                  <a:schemeClr val="tx1"/>
                </a:solidFill>
              </a:rPr>
              <a:t>Tk</a:t>
            </a:r>
            <a:r>
              <a:rPr lang="en-IN" dirty="0">
                <a:solidFill>
                  <a:schemeClr val="tx1"/>
                </a:solidFill>
              </a:rPr>
              <a:t>()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name = Label(</a:t>
            </a:r>
            <a:r>
              <a:rPr lang="en-IN" dirty="0" err="1">
                <a:solidFill>
                  <a:schemeClr val="tx1"/>
                </a:solidFill>
              </a:rPr>
              <a:t>parent,text</a:t>
            </a:r>
            <a:r>
              <a:rPr lang="en-IN" dirty="0">
                <a:solidFill>
                  <a:schemeClr val="tx1"/>
                </a:solidFill>
              </a:rPr>
              <a:t> = "Name").grid(row = 0, column = 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e1 = Entry(parent).grid(row = 0, column = 1)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password = Label(</a:t>
            </a:r>
            <a:r>
              <a:rPr lang="en-IN" dirty="0" err="1">
                <a:solidFill>
                  <a:schemeClr val="tx1"/>
                </a:solidFill>
              </a:rPr>
              <a:t>parent,text</a:t>
            </a:r>
            <a:r>
              <a:rPr lang="en-IN" dirty="0">
                <a:solidFill>
                  <a:schemeClr val="tx1"/>
                </a:solidFill>
              </a:rPr>
              <a:t> = "Password").grid(row = 1, column = 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e2 = Entry(parent).grid(row = 1, column = 1)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submit = Button(parent, text = "Submit").grid(row = 4, column = 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 err="1">
                <a:solidFill>
                  <a:schemeClr val="tx1"/>
                </a:solidFill>
              </a:rPr>
              <a:t>parent.mainloop</a:t>
            </a:r>
            <a:r>
              <a:rPr lang="en-IN" dirty="0">
                <a:solidFill>
                  <a:schemeClr val="tx1"/>
                </a:solidFill>
              </a:rPr>
              <a:t>()  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Python Tkinte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300" y="3842495"/>
            <a:ext cx="2286000" cy="101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514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35467"/>
            <a:ext cx="8520600" cy="575733"/>
          </a:xfrm>
        </p:spPr>
        <p:txBody>
          <a:bodyPr>
            <a:normAutofit fontScale="90000"/>
          </a:bodyPr>
          <a:lstStyle/>
          <a:p>
            <a:r>
              <a:rPr lang="en-IN" dirty="0"/>
              <a:t>Python </a:t>
            </a:r>
            <a:r>
              <a:rPr lang="en-IN" dirty="0" err="1"/>
              <a:t>Tkinter</a:t>
            </a:r>
            <a:r>
              <a:rPr lang="en-IN" dirty="0"/>
              <a:t> place() method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711200"/>
            <a:ext cx="8520600" cy="3857675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from</a:t>
            </a:r>
            <a:r>
              <a:rPr lang="en-IN" dirty="0">
                <a:solidFill>
                  <a:schemeClr val="tx1"/>
                </a:solidFill>
              </a:rPr>
              <a:t> </a:t>
            </a:r>
            <a:r>
              <a:rPr lang="en-IN" dirty="0" err="1">
                <a:solidFill>
                  <a:schemeClr val="tx1"/>
                </a:solidFill>
              </a:rPr>
              <a:t>tkinter</a:t>
            </a:r>
            <a:r>
              <a:rPr lang="en-IN" dirty="0">
                <a:solidFill>
                  <a:schemeClr val="tx1"/>
                </a:solidFill>
              </a:rPr>
              <a:t> </a:t>
            </a:r>
            <a:r>
              <a:rPr lang="en-IN" b="1" dirty="0">
                <a:solidFill>
                  <a:schemeClr val="tx1"/>
                </a:solidFill>
              </a:rPr>
              <a:t>import</a:t>
            </a:r>
            <a:r>
              <a:rPr lang="en-IN" dirty="0">
                <a:solidFill>
                  <a:schemeClr val="tx1"/>
                </a:solidFill>
              </a:rPr>
              <a:t> *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top = </a:t>
            </a:r>
            <a:r>
              <a:rPr lang="en-IN" dirty="0" err="1">
                <a:solidFill>
                  <a:schemeClr val="tx1"/>
                </a:solidFill>
              </a:rPr>
              <a:t>Tk</a:t>
            </a:r>
            <a:r>
              <a:rPr lang="en-IN" dirty="0">
                <a:solidFill>
                  <a:schemeClr val="tx1"/>
                </a:solidFill>
              </a:rPr>
              <a:t>()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 err="1">
                <a:solidFill>
                  <a:schemeClr val="tx1"/>
                </a:solidFill>
              </a:rPr>
              <a:t>top.geometry</a:t>
            </a:r>
            <a:r>
              <a:rPr lang="en-IN" dirty="0">
                <a:solidFill>
                  <a:schemeClr val="tx1"/>
                </a:solidFill>
              </a:rPr>
              <a:t>("400x250")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name = Label(top, text = "Name").place(x = 30,y = 50)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email = Label(top, text = "Email").place(x = 30, y = 90)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password = Label(top, text = "Password").place(x = 30, y = 130)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e1 = Entry(top).place(x = 80, y = 50)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e2 = Entry(top).place(x = 80, y = 90)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tx1"/>
                </a:solidFill>
              </a:rPr>
              <a:t>e3 = Entry(top).place(x = 95, y = 130) 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dirty="0" err="1">
                <a:solidFill>
                  <a:schemeClr val="tx1"/>
                </a:solidFill>
              </a:rPr>
              <a:t>top.mainloop</a:t>
            </a:r>
            <a:r>
              <a:rPr lang="en-IN" dirty="0">
                <a:solidFill>
                  <a:schemeClr val="tx1"/>
                </a:solidFill>
              </a:rPr>
              <a:t>() 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Python Tkinte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56" y="2798410"/>
            <a:ext cx="2682169" cy="2017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32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 b="1"/>
              <a:t>Tkinter 1) Button Widget</a:t>
            </a:r>
            <a:endParaRPr sz="2420" b="1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b="1">
                <a:solidFill>
                  <a:schemeClr val="dk1"/>
                </a:solidFill>
              </a:rPr>
              <a:t>Syntax:v                 </a:t>
            </a:r>
            <a:r>
              <a:rPr lang="en-GB" sz="1700" b="1">
                <a:solidFill>
                  <a:srgbClr val="980000"/>
                </a:solidFill>
              </a:rPr>
              <a:t>w = Button(master, option=value)</a:t>
            </a:r>
            <a:endParaRPr sz="1700" b="1">
              <a:solidFill>
                <a:srgbClr val="98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rgbClr val="9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200"/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l="17504" t="51360" r="30478" b="16330"/>
          <a:stretch/>
        </p:blipFill>
        <p:spPr>
          <a:xfrm>
            <a:off x="592250" y="1850325"/>
            <a:ext cx="4756549" cy="24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 rotWithShape="1">
          <a:blip r:embed="rId4">
            <a:alphaModFix/>
          </a:blip>
          <a:srcRect l="44393" t="49129" r="33845" b="22416"/>
          <a:stretch/>
        </p:blipFill>
        <p:spPr>
          <a:xfrm>
            <a:off x="5609000" y="2020575"/>
            <a:ext cx="2876349" cy="21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20" b="1"/>
              <a:t>Tkinter Button Example (Close Window Button)</a:t>
            </a:r>
            <a:endParaRPr sz="2220" b="1"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l="15653" t="48780" r="11847" b="19117"/>
          <a:stretch/>
        </p:blipFill>
        <p:spPr>
          <a:xfrm>
            <a:off x="808775" y="1144024"/>
            <a:ext cx="7205025" cy="285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Tkinter 2. Canvas</a:t>
            </a:r>
            <a:endParaRPr b="1"/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l="20607" t="40346" r="9468" b="31037"/>
          <a:stretch/>
        </p:blipFill>
        <p:spPr>
          <a:xfrm>
            <a:off x="478650" y="1218438"/>
            <a:ext cx="7855774" cy="270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20" b="1"/>
              <a:t>Tkinter 3. Checkbutton </a:t>
            </a:r>
            <a:endParaRPr sz="2620" b="1"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49425" y="530578"/>
            <a:ext cx="8520600" cy="39035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chemeClr val="dk1"/>
                </a:solidFill>
              </a:rPr>
              <a:t>Parameters: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-GB" sz="1100" dirty="0">
                <a:solidFill>
                  <a:schemeClr val="dk1"/>
                </a:solidFill>
              </a:rPr>
              <a:t> → label shown next to checkbox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</a:t>
            </a:r>
            <a:r>
              <a:rPr lang="en-GB" sz="1100" dirty="0">
                <a:solidFill>
                  <a:schemeClr val="dk1"/>
                </a:solidFill>
              </a:rPr>
              <a:t> → stores value (0 or 1)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lang="en-GB" sz="1100" dirty="0">
                <a:solidFill>
                  <a:schemeClr val="dk1"/>
                </a:solidFill>
              </a:rPr>
              <a:t> → position in grid (row number)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sticky=W</a:t>
            </a:r>
            <a:r>
              <a:rPr lang="en-GB" sz="1100" dirty="0">
                <a:solidFill>
                  <a:schemeClr val="dk1"/>
                </a:solidFill>
              </a:rPr>
              <a:t> → align to left side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l="20395" t="39611" r="24735" b="33791"/>
          <a:stretch/>
        </p:blipFill>
        <p:spPr>
          <a:xfrm>
            <a:off x="516139" y="2151166"/>
            <a:ext cx="5347200" cy="216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20" b="1"/>
              <a:t>Tkinter 4. Radiobutton</a:t>
            </a:r>
            <a:endParaRPr sz="2520" b="1"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700" y="915325"/>
            <a:ext cx="8520600" cy="3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-GB" sz="1500">
                <a:solidFill>
                  <a:schemeClr val="dk1"/>
                </a:solidFill>
              </a:rPr>
              <a:t> → option name                                   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</a:t>
            </a:r>
            <a:r>
              <a:rPr lang="en-GB" sz="1500">
                <a:solidFill>
                  <a:schemeClr val="dk1"/>
                </a:solidFill>
              </a:rPr>
              <a:t> → stores selected value 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n-GB" sz="1500">
                <a:solidFill>
                  <a:schemeClr val="dk1"/>
                </a:solidFill>
              </a:rPr>
              <a:t> → value for each option                    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anchor=W</a:t>
            </a:r>
            <a:r>
              <a:rPr lang="en-GB" sz="1500">
                <a:solidFill>
                  <a:schemeClr val="dk1"/>
                </a:solidFill>
              </a:rPr>
              <a:t> → align to left </a:t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l="15445" t="42547" r="21128" b="30119"/>
          <a:stretch/>
        </p:blipFill>
        <p:spPr>
          <a:xfrm>
            <a:off x="891761" y="1811576"/>
            <a:ext cx="6686399" cy="280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377775"/>
            <a:ext cx="8520600" cy="4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Tkinter  5. Entry (Input Box) </a:t>
            </a:r>
            <a:endParaRPr b="1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0393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lang="en-GB" sz="1600">
                <a:solidFill>
                  <a:schemeClr val="dk1"/>
                </a:solidFill>
              </a:rPr>
              <a:t> → shows text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Entry</a:t>
            </a:r>
            <a:r>
              <a:rPr lang="en-GB" sz="1600">
                <a:solidFill>
                  <a:schemeClr val="dk1"/>
                </a:solidFill>
              </a:rPr>
              <a:t> → input box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pack()</a:t>
            </a:r>
            <a:r>
              <a:rPr lang="en-GB" sz="1600">
                <a:solidFill>
                  <a:schemeClr val="dk1"/>
                </a:solidFill>
              </a:rPr>
              <a:t> → displays on screen </a:t>
            </a:r>
            <a:endParaRPr sz="2300"/>
          </a:p>
        </p:txBody>
      </p:sp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 l="15654" t="37781" r="48662" b="29933"/>
          <a:stretch/>
        </p:blipFill>
        <p:spPr>
          <a:xfrm>
            <a:off x="462599" y="2181675"/>
            <a:ext cx="4941676" cy="24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 rotWithShape="1">
          <a:blip r:embed="rId4">
            <a:alphaModFix/>
          </a:blip>
          <a:srcRect l="50000" t="37958" r="14629" b="38377"/>
          <a:stretch/>
        </p:blipFill>
        <p:spPr>
          <a:xfrm>
            <a:off x="5501124" y="2260697"/>
            <a:ext cx="3234326" cy="16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Tkinter 6. Label </a:t>
            </a:r>
            <a:endParaRPr b="1"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3">
            <a:alphaModFix/>
          </a:blip>
          <a:srcRect l="15451" t="46030" r="18236" b="34709"/>
          <a:stretch/>
        </p:blipFill>
        <p:spPr>
          <a:xfrm>
            <a:off x="1072825" y="1139575"/>
            <a:ext cx="7091876" cy="248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311700" y="311775"/>
            <a:ext cx="85206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420" b="1"/>
              <a:t>Q Create a simple Tkinter login form with username, password, gender selection, checkbox, and a login button.</a:t>
            </a:r>
            <a:endParaRPr sz="1420" b="1"/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 l="17302" t="30439" r="40826" b="16363"/>
          <a:stretch/>
        </p:blipFill>
        <p:spPr>
          <a:xfrm>
            <a:off x="403250" y="924675"/>
            <a:ext cx="7261625" cy="358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236250" y="143250"/>
            <a:ext cx="85206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Database Operations and Connectivity</a:t>
            </a:r>
            <a:endParaRPr b="1"/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3">
            <a:alphaModFix/>
          </a:blip>
          <a:srcRect l="-806" r="-3884" b="20179"/>
          <a:stretch/>
        </p:blipFill>
        <p:spPr>
          <a:xfrm>
            <a:off x="1798975" y="638463"/>
            <a:ext cx="5224599" cy="386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323</Words>
  <Application>Microsoft Office PowerPoint</Application>
  <PresentationFormat>On-screen Show (16:9)</PresentationFormat>
  <Paragraphs>74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Roboto Mono</vt:lpstr>
      <vt:lpstr>Arial</vt:lpstr>
      <vt:lpstr>Simple Light</vt:lpstr>
      <vt:lpstr>Unit-5 GUI (Graphical User Interface)</vt:lpstr>
      <vt:lpstr>GUI (Graphical User Interface</vt:lpstr>
      <vt:lpstr>Steps for GUI Programming </vt:lpstr>
      <vt:lpstr>PowerPoint Presentation</vt:lpstr>
      <vt:lpstr>Example-</vt:lpstr>
      <vt:lpstr>   Tkinter Window Creation and Geometry Managers</vt:lpstr>
      <vt:lpstr>Python Tkinter pack() method </vt:lpstr>
      <vt:lpstr>Python Tkinter grid() method </vt:lpstr>
      <vt:lpstr>Python Tkinter place() method </vt:lpstr>
      <vt:lpstr>Tkinter 1) Button Widget</vt:lpstr>
      <vt:lpstr>Tkinter Button Example (Close Window Button)</vt:lpstr>
      <vt:lpstr>Tkinter 2. Canvas</vt:lpstr>
      <vt:lpstr>Tkinter 3. Checkbutton </vt:lpstr>
      <vt:lpstr>Tkinter 4. Radiobutton</vt:lpstr>
      <vt:lpstr>Tkinter  5. Entry (Input Box) </vt:lpstr>
      <vt:lpstr>Tkinter 6. Label </vt:lpstr>
      <vt:lpstr>Q Create a simple Tkinter login form with username, password, gender selection, checkbox, and a login button.</vt:lpstr>
      <vt:lpstr>Database Operations and Connectivity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(Graphical User Interface)</dc:title>
  <cp:lastModifiedBy>admin</cp:lastModifiedBy>
  <cp:revision>4</cp:revision>
  <dcterms:modified xsi:type="dcterms:W3CDTF">2026-04-04T04:12:56Z</dcterms:modified>
</cp:coreProperties>
</file>